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4" r:id="rId1"/>
  </p:sldMasterIdLst>
  <p:notesMasterIdLst>
    <p:notesMasterId r:id="rId18"/>
  </p:notesMasterIdLst>
  <p:sldIdLst>
    <p:sldId id="256" r:id="rId2"/>
    <p:sldId id="260" r:id="rId3"/>
    <p:sldId id="261" r:id="rId4"/>
    <p:sldId id="258" r:id="rId5"/>
    <p:sldId id="262" r:id="rId6"/>
    <p:sldId id="263" r:id="rId7"/>
    <p:sldId id="273" r:id="rId8"/>
    <p:sldId id="264" r:id="rId9"/>
    <p:sldId id="265" r:id="rId10"/>
    <p:sldId id="266" r:id="rId11"/>
    <p:sldId id="272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A63F"/>
    <a:srgbClr val="8A3D16"/>
    <a:srgbClr val="0064A0"/>
    <a:srgbClr val="288ABA"/>
    <a:srgbClr val="771D82"/>
    <a:srgbClr val="131D82"/>
    <a:srgbClr val="8CBE42"/>
    <a:srgbClr val="AA0533"/>
    <a:srgbClr val="4C23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5195" autoAdjust="0"/>
  </p:normalViewPr>
  <p:slideViewPr>
    <p:cSldViewPr>
      <p:cViewPr varScale="1">
        <p:scale>
          <a:sx n="76" d="100"/>
          <a:sy n="76" d="100"/>
        </p:scale>
        <p:origin x="1570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D2F2DC-A2AF-4838-BE34-708B896FCAFE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67967E-9C9B-4A3A-9DAD-5A0EB51522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799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CD987-D5F0-423A-B571-656612AAA3E1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A3DBB-FBA3-4A4C-B7D7-E60F12564F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CD987-D5F0-423A-B571-656612AAA3E1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A3DBB-FBA3-4A4C-B7D7-E60F12564F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CD987-D5F0-423A-B571-656612AAA3E1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A3DBB-FBA3-4A4C-B7D7-E60F12564F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CD987-D5F0-423A-B571-656612AAA3E1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A3DBB-FBA3-4A4C-B7D7-E60F12564F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CD987-D5F0-423A-B571-656612AAA3E1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A3DBB-FBA3-4A4C-B7D7-E60F12564F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CD987-D5F0-423A-B571-656612AAA3E1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A3DBB-FBA3-4A4C-B7D7-E60F12564F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CD987-D5F0-423A-B571-656612AAA3E1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A3DBB-FBA3-4A4C-B7D7-E60F12564F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CD987-D5F0-423A-B571-656612AAA3E1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A3DBB-FBA3-4A4C-B7D7-E60F12564F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CD987-D5F0-423A-B571-656612AAA3E1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A3DBB-FBA3-4A4C-B7D7-E60F12564F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CD987-D5F0-423A-B571-656612AAA3E1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A3DBB-FBA3-4A4C-B7D7-E60F12564F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CD987-D5F0-423A-B571-656612AAA3E1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A3DBB-FBA3-4A4C-B7D7-E60F12564F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2CD987-D5F0-423A-B571-656612AAA3E1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5A3DBB-FBA3-4A4C-B7D7-E60F12564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34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5" r:id="rId1"/>
    <p:sldLayoutId id="2147483836" r:id="rId2"/>
    <p:sldLayoutId id="2147483837" r:id="rId3"/>
    <p:sldLayoutId id="2147483838" r:id="rId4"/>
    <p:sldLayoutId id="2147483839" r:id="rId5"/>
    <p:sldLayoutId id="2147483840" r:id="rId6"/>
    <p:sldLayoutId id="2147483841" r:id="rId7"/>
    <p:sldLayoutId id="2147483842" r:id="rId8"/>
    <p:sldLayoutId id="2147483843" r:id="rId9"/>
    <p:sldLayoutId id="2147483844" r:id="rId10"/>
    <p:sldLayoutId id="214748384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601" y="5013176"/>
            <a:ext cx="3389343" cy="1296144"/>
          </a:xfrm>
          <a:prstGeom prst="rect">
            <a:avLst/>
          </a:prstGeom>
        </p:spPr>
      </p:pic>
      <p:grpSp>
        <p:nvGrpSpPr>
          <p:cNvPr id="8" name="Group 7"/>
          <p:cNvGrpSpPr/>
          <p:nvPr/>
        </p:nvGrpSpPr>
        <p:grpSpPr>
          <a:xfrm>
            <a:off x="8064388" y="5857924"/>
            <a:ext cx="216000" cy="216000"/>
            <a:chOff x="2772000" y="1932221"/>
            <a:chExt cx="2340000" cy="2340000"/>
          </a:xfrm>
        </p:grpSpPr>
        <p:sp>
          <p:nvSpPr>
            <p:cNvPr id="9" name="Rectangle 8"/>
            <p:cNvSpPr/>
            <p:nvPr/>
          </p:nvSpPr>
          <p:spPr>
            <a:xfrm>
              <a:off x="2772000" y="1932221"/>
              <a:ext cx="2340000" cy="23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o-RO" noProof="1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546000" y="2706221"/>
              <a:ext cx="792000" cy="79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o-RO" noProof="1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6624228" y="5857924"/>
            <a:ext cx="216000" cy="216000"/>
            <a:chOff x="2772000" y="1932221"/>
            <a:chExt cx="2340000" cy="2340000"/>
          </a:xfrm>
        </p:grpSpPr>
        <p:sp>
          <p:nvSpPr>
            <p:cNvPr id="15" name="Rectangle 14"/>
            <p:cNvSpPr/>
            <p:nvPr/>
          </p:nvSpPr>
          <p:spPr>
            <a:xfrm>
              <a:off x="2772000" y="1932221"/>
              <a:ext cx="2340000" cy="23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o-RO" noProof="1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3546000" y="2706221"/>
              <a:ext cx="792000" cy="79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o-RO" noProof="1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</p:grpSp>
      <p:sp>
        <p:nvSpPr>
          <p:cNvPr id="21" name="Rectangle 20"/>
          <p:cNvSpPr/>
          <p:nvPr/>
        </p:nvSpPr>
        <p:spPr>
          <a:xfrm>
            <a:off x="8064388" y="4417764"/>
            <a:ext cx="216000" cy="216000"/>
          </a:xfrm>
          <a:prstGeom prst="rect">
            <a:avLst/>
          </a:prstGeom>
          <a:solidFill>
            <a:srgbClr val="1DA6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1">
              <a:ln>
                <a:solidFill>
                  <a:schemeClr val="bg2">
                    <a:lumMod val="75000"/>
                  </a:schemeClr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135834" y="4489210"/>
            <a:ext cx="73108" cy="731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1">
              <a:ln>
                <a:solidFill>
                  <a:schemeClr val="bg2">
                    <a:lumMod val="75000"/>
                  </a:schemeClr>
                </a:solidFill>
              </a:ln>
              <a:solidFill>
                <a:schemeClr val="tx1"/>
              </a:solidFill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5184068" y="5857924"/>
            <a:ext cx="216000" cy="216000"/>
            <a:chOff x="2772000" y="1932221"/>
            <a:chExt cx="2340000" cy="2340000"/>
          </a:xfrm>
        </p:grpSpPr>
        <p:sp>
          <p:nvSpPr>
            <p:cNvPr id="18" name="Rectangle 17"/>
            <p:cNvSpPr/>
            <p:nvPr/>
          </p:nvSpPr>
          <p:spPr>
            <a:xfrm>
              <a:off x="2772000" y="1932221"/>
              <a:ext cx="2340000" cy="23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o-RO" noProof="1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3546000" y="2706221"/>
              <a:ext cx="792000" cy="79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o-RO" noProof="1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6624228" y="4417764"/>
            <a:ext cx="216000" cy="216000"/>
            <a:chOff x="2772000" y="1932221"/>
            <a:chExt cx="2340000" cy="2340000"/>
          </a:xfrm>
        </p:grpSpPr>
        <p:sp>
          <p:nvSpPr>
            <p:cNvPr id="24" name="Rectangle 23"/>
            <p:cNvSpPr/>
            <p:nvPr/>
          </p:nvSpPr>
          <p:spPr>
            <a:xfrm>
              <a:off x="2772000" y="1932221"/>
              <a:ext cx="2340000" cy="23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o-RO" noProof="1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3546000" y="2706221"/>
              <a:ext cx="792000" cy="79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o-RO" noProof="1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8064388" y="2977604"/>
            <a:ext cx="216000" cy="216000"/>
            <a:chOff x="2772000" y="1932221"/>
            <a:chExt cx="2340000" cy="2340000"/>
          </a:xfrm>
        </p:grpSpPr>
        <p:sp>
          <p:nvSpPr>
            <p:cNvPr id="27" name="Rectangle 26"/>
            <p:cNvSpPr/>
            <p:nvPr/>
          </p:nvSpPr>
          <p:spPr>
            <a:xfrm>
              <a:off x="2772000" y="1932221"/>
              <a:ext cx="2340000" cy="23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o-RO" noProof="1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3546000" y="2706221"/>
              <a:ext cx="792000" cy="79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o-RO" noProof="1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797062" y="921140"/>
            <a:ext cx="3600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600" noProof="1">
                <a:latin typeface="UT Sans Bold" pitchFamily="50" charset="0"/>
              </a:rPr>
              <a:t>STUDIU ASUPRA INTENSITĂȚII SEMNALULUI ÎN ECOGRAFII ABDOMINALE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7062" y="3753036"/>
            <a:ext cx="360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400" noProof="1">
                <a:latin typeface="UT Sans Bold" pitchFamily="50" charset="0"/>
              </a:rPr>
              <a:t>Burlacu Claudiu-Ionuț</a:t>
            </a:r>
            <a:endParaRPr lang="ro-RO" sz="1200" noProof="1"/>
          </a:p>
        </p:txBody>
      </p:sp>
    </p:spTree>
    <p:extLst>
      <p:ext uri="{BB962C8B-B14F-4D97-AF65-F5344CB8AC3E}">
        <p14:creationId xmlns:p14="http://schemas.microsoft.com/office/powerpoint/2010/main" val="495011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F2196-4317-50A2-0194-C5B4D6458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DFBAC85-99D5-83F6-DC87-DE6F5F1719CF}"/>
              </a:ext>
            </a:extLst>
          </p:cNvPr>
          <p:cNvGrpSpPr/>
          <p:nvPr/>
        </p:nvGrpSpPr>
        <p:grpSpPr>
          <a:xfrm>
            <a:off x="8460432" y="6237312"/>
            <a:ext cx="216000" cy="216000"/>
            <a:chOff x="2772000" y="1932221"/>
            <a:chExt cx="2340000" cy="2340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076C9C5-85E5-3F08-5361-A20ABFB5DC02}"/>
                </a:ext>
              </a:extLst>
            </p:cNvPr>
            <p:cNvSpPr/>
            <p:nvPr/>
          </p:nvSpPr>
          <p:spPr>
            <a:xfrm>
              <a:off x="2772000" y="1932221"/>
              <a:ext cx="2340000" cy="23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o-RO" noProof="1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140EF36-8B1D-96D9-48AB-B693C6F25B9A}"/>
                </a:ext>
              </a:extLst>
            </p:cNvPr>
            <p:cNvSpPr/>
            <p:nvPr/>
          </p:nvSpPr>
          <p:spPr>
            <a:xfrm>
              <a:off x="3546000" y="2706221"/>
              <a:ext cx="792000" cy="79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o-RO" noProof="1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E19E0FA8-EA1A-C1AD-590A-DD964AD63F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332656"/>
            <a:ext cx="1688792" cy="4777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3D33434-58BC-445B-20B9-7271599235E0}"/>
              </a:ext>
            </a:extLst>
          </p:cNvPr>
          <p:cNvSpPr txBox="1"/>
          <p:nvPr/>
        </p:nvSpPr>
        <p:spPr>
          <a:xfrm>
            <a:off x="2771800" y="332656"/>
            <a:ext cx="360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3600" b="1" noProof="1">
                <a:latin typeface="UT Sans" panose="00000500000000000000" pitchFamily="2" charset="0"/>
              </a:rPr>
              <a:t>Cuprins</a:t>
            </a:r>
          </a:p>
        </p:txBody>
      </p:sp>
      <p:sp>
        <p:nvSpPr>
          <p:cNvPr id="12" name="Google Shape;1073;p61">
            <a:hlinkClick r:id="" action="ppaction://noaction"/>
            <a:extLst>
              <a:ext uri="{FF2B5EF4-FFF2-40B4-BE49-F238E27FC236}">
                <a16:creationId xmlns:a16="http://schemas.microsoft.com/office/drawing/2014/main" id="{4F4AA53D-015C-5E1A-71B5-B5B9C4D8BEE8}"/>
              </a:ext>
            </a:extLst>
          </p:cNvPr>
          <p:cNvSpPr txBox="1">
            <a:spLocks/>
          </p:cNvSpPr>
          <p:nvPr/>
        </p:nvSpPr>
        <p:spPr>
          <a:xfrm>
            <a:off x="845170" y="1803678"/>
            <a:ext cx="5871836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ctr">
              <a:spcBef>
                <a:spcPts val="0"/>
              </a:spcBef>
              <a:buClr>
                <a:srgbClr val="1DA63F"/>
              </a:buClr>
              <a:buFont typeface="Wingdings" panose="05000000000000000000" pitchFamily="2" charset="2"/>
              <a:buChar char="Ø"/>
            </a:pPr>
            <a:r>
              <a:rPr lang="ro-RO" noProof="1">
                <a:latin typeface="UT Sans" panose="00000500000000000000" pitchFamily="2" charset="0"/>
              </a:rPr>
              <a:t>1. Obiectivul studiului</a:t>
            </a:r>
          </a:p>
        </p:txBody>
      </p:sp>
      <p:sp>
        <p:nvSpPr>
          <p:cNvPr id="13" name="Google Shape;1073;p61">
            <a:hlinkClick r:id="" action="ppaction://noaction"/>
            <a:extLst>
              <a:ext uri="{FF2B5EF4-FFF2-40B4-BE49-F238E27FC236}">
                <a16:creationId xmlns:a16="http://schemas.microsoft.com/office/drawing/2014/main" id="{25641499-1B0B-3A5B-BAC2-47ABF7F9ABE3}"/>
              </a:ext>
            </a:extLst>
          </p:cNvPr>
          <p:cNvSpPr txBox="1">
            <a:spLocks/>
          </p:cNvSpPr>
          <p:nvPr/>
        </p:nvSpPr>
        <p:spPr>
          <a:xfrm>
            <a:off x="1150988" y="2591210"/>
            <a:ext cx="5568467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ctr">
              <a:spcBef>
                <a:spcPts val="0"/>
              </a:spcBef>
              <a:buClr>
                <a:srgbClr val="1DA63F"/>
              </a:buClr>
              <a:buFont typeface="Wingdings" panose="05000000000000000000" pitchFamily="2" charset="2"/>
              <a:buChar char="Ø"/>
            </a:pPr>
            <a:r>
              <a:rPr lang="ro-RO" noProof="1">
                <a:latin typeface="UT Sans" panose="00000500000000000000" pitchFamily="2" charset="0"/>
              </a:rPr>
              <a:t>2. Tehnologiile utilizate</a:t>
            </a:r>
          </a:p>
        </p:txBody>
      </p:sp>
      <p:sp>
        <p:nvSpPr>
          <p:cNvPr id="14" name="Google Shape;1073;p61">
            <a:hlinkClick r:id="" action="ppaction://noaction"/>
            <a:extLst>
              <a:ext uri="{FF2B5EF4-FFF2-40B4-BE49-F238E27FC236}">
                <a16:creationId xmlns:a16="http://schemas.microsoft.com/office/drawing/2014/main" id="{5F4E8F5D-B59D-B0E7-EC4C-0E83CA13DEEF}"/>
              </a:ext>
            </a:extLst>
          </p:cNvPr>
          <p:cNvSpPr txBox="1">
            <a:spLocks/>
          </p:cNvSpPr>
          <p:nvPr/>
        </p:nvSpPr>
        <p:spPr>
          <a:xfrm>
            <a:off x="1454562" y="3391319"/>
            <a:ext cx="7365909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ctr">
              <a:spcBef>
                <a:spcPts val="0"/>
              </a:spcBef>
              <a:buClr>
                <a:srgbClr val="1DA63F"/>
              </a:buClr>
              <a:buFont typeface="Wingdings" panose="05000000000000000000" pitchFamily="2" charset="2"/>
              <a:buChar char="Ø"/>
            </a:pPr>
            <a:r>
              <a:rPr lang="ro-RO" noProof="1">
                <a:latin typeface="UT Sans" panose="00000500000000000000" pitchFamily="2" charset="0"/>
              </a:rPr>
              <a:t>3. Etapele de dezvoltare ale studiului</a:t>
            </a:r>
          </a:p>
        </p:txBody>
      </p:sp>
      <p:sp>
        <p:nvSpPr>
          <p:cNvPr id="15" name="Google Shape;1073;p61">
            <a:hlinkClick r:id="" action="ppaction://noaction"/>
            <a:extLst>
              <a:ext uri="{FF2B5EF4-FFF2-40B4-BE49-F238E27FC236}">
                <a16:creationId xmlns:a16="http://schemas.microsoft.com/office/drawing/2014/main" id="{21AC6195-54E7-02D9-E2D7-72FF11807BE0}"/>
              </a:ext>
            </a:extLst>
          </p:cNvPr>
          <p:cNvSpPr txBox="1">
            <a:spLocks/>
          </p:cNvSpPr>
          <p:nvPr/>
        </p:nvSpPr>
        <p:spPr>
          <a:xfrm>
            <a:off x="1151620" y="4178227"/>
            <a:ext cx="3675592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ctr">
              <a:spcBef>
                <a:spcPts val="0"/>
              </a:spcBef>
              <a:buClr>
                <a:srgbClr val="1DA63F"/>
              </a:buClr>
              <a:buFont typeface="Wingdings" panose="05000000000000000000" pitchFamily="2" charset="2"/>
              <a:buChar char="Ø"/>
            </a:pPr>
            <a:r>
              <a:rPr lang="ro-RO" noProof="1">
                <a:latin typeface="UT Sans" panose="00000500000000000000" pitchFamily="2" charset="0"/>
              </a:rPr>
              <a:t>4. Concluzie</a:t>
            </a:r>
          </a:p>
        </p:txBody>
      </p:sp>
    </p:spTree>
    <p:extLst>
      <p:ext uri="{BB962C8B-B14F-4D97-AF65-F5344CB8AC3E}">
        <p14:creationId xmlns:p14="http://schemas.microsoft.com/office/powerpoint/2010/main" val="1932296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B0B7D-1DEC-C5F3-3C4A-802DEFD72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DE899F64-DCBF-ADC0-9AE1-89DA97B7AA42}"/>
              </a:ext>
            </a:extLst>
          </p:cNvPr>
          <p:cNvGrpSpPr/>
          <p:nvPr/>
        </p:nvGrpSpPr>
        <p:grpSpPr>
          <a:xfrm>
            <a:off x="8460432" y="6237312"/>
            <a:ext cx="216000" cy="216000"/>
            <a:chOff x="2772000" y="1932221"/>
            <a:chExt cx="2340000" cy="2340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0446AC8-3195-8B9D-A4BB-9EBD0202A2B3}"/>
                </a:ext>
              </a:extLst>
            </p:cNvPr>
            <p:cNvSpPr/>
            <p:nvPr/>
          </p:nvSpPr>
          <p:spPr>
            <a:xfrm>
              <a:off x="2772000" y="1932221"/>
              <a:ext cx="2340000" cy="23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o-RO" noProof="1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24BDB6B-C683-E3B6-E53B-BDED8BA02A83}"/>
                </a:ext>
              </a:extLst>
            </p:cNvPr>
            <p:cNvSpPr/>
            <p:nvPr/>
          </p:nvSpPr>
          <p:spPr>
            <a:xfrm>
              <a:off x="3546000" y="2706221"/>
              <a:ext cx="792000" cy="79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o-RO" noProof="1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1E6598E6-1477-6759-8CB4-8D8CF1052F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332656"/>
            <a:ext cx="1688792" cy="4777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2B8F294-E4D9-D8B8-4D1D-3A0D68D81C6D}"/>
              </a:ext>
            </a:extLst>
          </p:cNvPr>
          <p:cNvSpPr txBox="1"/>
          <p:nvPr/>
        </p:nvSpPr>
        <p:spPr>
          <a:xfrm>
            <a:off x="2267744" y="315407"/>
            <a:ext cx="50045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3600" b="1" noProof="1">
                <a:latin typeface="UT Sans" panose="00000500000000000000" pitchFamily="2" charset="0"/>
              </a:rPr>
              <a:t>1. Obiectivul studiului</a:t>
            </a:r>
            <a:endParaRPr lang="ro-RO" sz="3600" b="1" noProof="1">
              <a:latin typeface="UT Sans Bold" pitchFamily="50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AC83BF-4C24-5D44-F5EF-89B601059BC3}"/>
              </a:ext>
            </a:extLst>
          </p:cNvPr>
          <p:cNvSpPr txBox="1"/>
          <p:nvPr/>
        </p:nvSpPr>
        <p:spPr>
          <a:xfrm>
            <a:off x="305388" y="1495357"/>
            <a:ext cx="8424936" cy="4562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Clr>
                <a:srgbClr val="1DA63F"/>
              </a:buClr>
              <a:buFont typeface="Arial" panose="020B0604020202020204" pitchFamily="34" charset="0"/>
              <a:buChar char="•"/>
            </a:pPr>
            <a:r>
              <a:rPr lang="en-US" sz="2800" noProof="1">
                <a:latin typeface="UT Sans" panose="00000500000000000000" pitchFamily="2" charset="0"/>
              </a:rPr>
              <a:t>Analiză cantitativă a imaginilor ecografice abdominale.</a:t>
            </a:r>
          </a:p>
          <a:p>
            <a:pPr marL="342900" indent="-342900" algn="just">
              <a:lnSpc>
                <a:spcPct val="150000"/>
              </a:lnSpc>
              <a:buClr>
                <a:srgbClr val="1DA63F"/>
              </a:buClr>
              <a:buFont typeface="Arial" panose="020B0604020202020204" pitchFamily="34" charset="0"/>
              <a:buChar char="•"/>
            </a:pPr>
            <a:r>
              <a:rPr lang="en-US" sz="2800" noProof="1">
                <a:latin typeface="UT Sans" panose="00000500000000000000" pitchFamily="2" charset="0"/>
              </a:rPr>
              <a:t>Scopul studiului este analiza variației semnalului ecografic în funcție de adâncime, în zonele ficatului și rinichilor.</a:t>
            </a:r>
          </a:p>
          <a:p>
            <a:pPr marL="342900" indent="-342900" algn="just">
              <a:lnSpc>
                <a:spcPct val="150000"/>
              </a:lnSpc>
              <a:buClr>
                <a:srgbClr val="1DA63F"/>
              </a:buClr>
              <a:buFont typeface="Arial" panose="020B0604020202020204" pitchFamily="34" charset="0"/>
              <a:buChar char="•"/>
            </a:pPr>
            <a:r>
              <a:rPr lang="en-US" sz="2800" noProof="1">
                <a:latin typeface="UT Sans" panose="00000500000000000000" pitchFamily="2" charset="0"/>
              </a:rPr>
              <a:t>Ipoteză: intensitatea semnalului ecografic scade odată cu creșterea adâncimii.</a:t>
            </a:r>
            <a:endParaRPr lang="ro-RO" sz="2800" noProof="1">
              <a:latin typeface="UT Sa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7281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8460432" y="6237312"/>
            <a:ext cx="216000" cy="216000"/>
            <a:chOff x="2772000" y="1932221"/>
            <a:chExt cx="2340000" cy="2340000"/>
          </a:xfrm>
        </p:grpSpPr>
        <p:sp>
          <p:nvSpPr>
            <p:cNvPr id="5" name="Rectangle 4"/>
            <p:cNvSpPr/>
            <p:nvPr/>
          </p:nvSpPr>
          <p:spPr>
            <a:xfrm>
              <a:off x="2772000" y="1932221"/>
              <a:ext cx="2340000" cy="23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o-RO" noProof="1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3546000" y="2706221"/>
              <a:ext cx="792000" cy="79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o-RO" noProof="1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332656"/>
            <a:ext cx="1688792" cy="4777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05CBB54-7E77-E1FB-FFEA-CA06BB461681}"/>
              </a:ext>
            </a:extLst>
          </p:cNvPr>
          <p:cNvSpPr txBox="1"/>
          <p:nvPr/>
        </p:nvSpPr>
        <p:spPr>
          <a:xfrm>
            <a:off x="2267744" y="321499"/>
            <a:ext cx="50045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3600" b="1" noProof="1">
                <a:latin typeface="UT Sans" panose="00000500000000000000" pitchFamily="2" charset="0"/>
              </a:rPr>
              <a:t>2. Tehnologiile utilizate</a:t>
            </a:r>
            <a:endParaRPr lang="ro-RO" sz="3600" b="1" noProof="1">
              <a:latin typeface="UT Sans Bold" pitchFamily="50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6F094D1-5311-9E8D-58BD-A85239ECB9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 noProof="1"/>
          </a:p>
        </p:txBody>
      </p:sp>
      <p:pic>
        <p:nvPicPr>
          <p:cNvPr id="9" name="Picture 8" descr="A diagram of company logos&#10;&#10;AI-generated content may be incorrect.">
            <a:extLst>
              <a:ext uri="{FF2B5EF4-FFF2-40B4-BE49-F238E27FC236}">
                <a16:creationId xmlns:a16="http://schemas.microsoft.com/office/drawing/2014/main" id="{C776D658-2853-6851-EFC4-954E8773D5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774" y="1140497"/>
            <a:ext cx="8640452" cy="4860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786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9FDA1-630F-C61F-772A-FF8C2A563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0F5984A-9D27-0758-A29F-8EE76DC378FC}"/>
              </a:ext>
            </a:extLst>
          </p:cNvPr>
          <p:cNvGrpSpPr/>
          <p:nvPr/>
        </p:nvGrpSpPr>
        <p:grpSpPr>
          <a:xfrm>
            <a:off x="8460432" y="6237312"/>
            <a:ext cx="216000" cy="216000"/>
            <a:chOff x="2772000" y="1932221"/>
            <a:chExt cx="2340000" cy="2340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D62F0BC-4311-7BEC-5D2F-D21909D3E429}"/>
                </a:ext>
              </a:extLst>
            </p:cNvPr>
            <p:cNvSpPr/>
            <p:nvPr/>
          </p:nvSpPr>
          <p:spPr>
            <a:xfrm>
              <a:off x="2772000" y="1932221"/>
              <a:ext cx="2340000" cy="23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o-RO" noProof="1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825AE0E-7B90-D692-A953-17478EC54FC3}"/>
                </a:ext>
              </a:extLst>
            </p:cNvPr>
            <p:cNvSpPr/>
            <p:nvPr/>
          </p:nvSpPr>
          <p:spPr>
            <a:xfrm>
              <a:off x="3546000" y="2706221"/>
              <a:ext cx="792000" cy="79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o-RO" noProof="1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576E8F0C-E720-3B02-9C7C-7B3A822ECE1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332656"/>
            <a:ext cx="1688792" cy="477750"/>
          </a:xfrm>
          <a:prstGeom prst="rect">
            <a:avLst/>
          </a:prstGeom>
        </p:spPr>
      </p:pic>
      <p:pic>
        <p:nvPicPr>
          <p:cNvPr id="8" name="Picture 7" descr="An ultrasound of a baby&#10;&#10;AI-generated content may be incorrect.">
            <a:extLst>
              <a:ext uri="{FF2B5EF4-FFF2-40B4-BE49-F238E27FC236}">
                <a16:creationId xmlns:a16="http://schemas.microsoft.com/office/drawing/2014/main" id="{3C066358-A3E1-F79C-BE7A-06B64D6894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988" y="990608"/>
            <a:ext cx="3351768" cy="28605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419332C-C9B3-70BD-F632-C743ECE26E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980976"/>
            <a:ext cx="3351768" cy="2870192"/>
          </a:xfrm>
          <a:prstGeom prst="rect">
            <a:avLst/>
          </a:prstGeom>
        </p:spPr>
      </p:pic>
      <p:pic>
        <p:nvPicPr>
          <p:cNvPr id="12" name="Picture 11" descr="A black and white image of a skirt&#10;&#10;AI-generated content may be incorrect.">
            <a:extLst>
              <a:ext uri="{FF2B5EF4-FFF2-40B4-BE49-F238E27FC236}">
                <a16:creationId xmlns:a16="http://schemas.microsoft.com/office/drawing/2014/main" id="{BF65CCDB-7BC6-7FAB-81CF-2997AA0563D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9485" y="3937750"/>
            <a:ext cx="3380662" cy="2860560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D29FA4D-3E0E-9B5A-B9CC-E56192E914F6}"/>
              </a:ext>
            </a:extLst>
          </p:cNvPr>
          <p:cNvCxnSpPr/>
          <p:nvPr/>
        </p:nvCxnSpPr>
        <p:spPr>
          <a:xfrm>
            <a:off x="3815916" y="2456892"/>
            <a:ext cx="612068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AA215C5-3934-58C3-8C64-5E51F52B2978}"/>
              </a:ext>
            </a:extLst>
          </p:cNvPr>
          <p:cNvCxnSpPr/>
          <p:nvPr/>
        </p:nvCxnSpPr>
        <p:spPr>
          <a:xfrm flipH="1">
            <a:off x="6120172" y="4077072"/>
            <a:ext cx="1476164" cy="1152128"/>
          </a:xfrm>
          <a:prstGeom prst="straightConnector1">
            <a:avLst/>
          </a:prstGeom>
          <a:ln>
            <a:solidFill>
              <a:srgbClr val="1DA63F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" name="Google Shape;1073;p61">
            <a:hlinkClick r:id="" action="ppaction://noaction"/>
            <a:extLst>
              <a:ext uri="{FF2B5EF4-FFF2-40B4-BE49-F238E27FC236}">
                <a16:creationId xmlns:a16="http://schemas.microsoft.com/office/drawing/2014/main" id="{CE11C9C2-FD84-00D1-C1FA-717075CCD002}"/>
              </a:ext>
            </a:extLst>
          </p:cNvPr>
          <p:cNvSpPr txBox="1">
            <a:spLocks/>
          </p:cNvSpPr>
          <p:nvPr/>
        </p:nvSpPr>
        <p:spPr>
          <a:xfrm>
            <a:off x="1828333" y="274624"/>
            <a:ext cx="7365909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  <a:buClr>
                <a:srgbClr val="1DA63F"/>
              </a:buClr>
            </a:pPr>
            <a:r>
              <a:rPr lang="ro-RO" b="1" noProof="1">
                <a:latin typeface="UT Sans" panose="00000500000000000000" pitchFamily="2" charset="0"/>
              </a:rPr>
              <a:t>3. Etapele de dezvoltare ale studiului</a:t>
            </a:r>
          </a:p>
        </p:txBody>
      </p:sp>
    </p:spTree>
    <p:extLst>
      <p:ext uri="{BB962C8B-B14F-4D97-AF65-F5344CB8AC3E}">
        <p14:creationId xmlns:p14="http://schemas.microsoft.com/office/powerpoint/2010/main" val="2752565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6A231-306A-B254-B238-38C065460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3E9363CC-D3C1-0A90-D46E-3BFD971BCAE3}"/>
              </a:ext>
            </a:extLst>
          </p:cNvPr>
          <p:cNvGrpSpPr/>
          <p:nvPr/>
        </p:nvGrpSpPr>
        <p:grpSpPr>
          <a:xfrm>
            <a:off x="8460432" y="6237312"/>
            <a:ext cx="216000" cy="216000"/>
            <a:chOff x="2772000" y="1932221"/>
            <a:chExt cx="2340000" cy="2340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B86C545-084A-C778-5B6C-7CB0234170C0}"/>
                </a:ext>
              </a:extLst>
            </p:cNvPr>
            <p:cNvSpPr/>
            <p:nvPr/>
          </p:nvSpPr>
          <p:spPr>
            <a:xfrm>
              <a:off x="2772000" y="1932221"/>
              <a:ext cx="2340000" cy="23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o-RO" noProof="1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46BD5A2-2D55-CF08-1FCB-136CBE305EA6}"/>
                </a:ext>
              </a:extLst>
            </p:cNvPr>
            <p:cNvSpPr/>
            <p:nvPr/>
          </p:nvSpPr>
          <p:spPr>
            <a:xfrm>
              <a:off x="3546000" y="2706221"/>
              <a:ext cx="792000" cy="79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o-RO" noProof="1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B2FE4ED8-FB6D-5B08-CA5B-0AE10D8F746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138" y="166857"/>
            <a:ext cx="1688792" cy="477750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CC51CD0-D863-9318-CFB9-1BA1A219B745}"/>
              </a:ext>
            </a:extLst>
          </p:cNvPr>
          <p:cNvCxnSpPr/>
          <p:nvPr/>
        </p:nvCxnSpPr>
        <p:spPr>
          <a:xfrm>
            <a:off x="4067944" y="2197504"/>
            <a:ext cx="612068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9" name="Picture 8" descr="An ultrasound of a baby&#10;&#10;AI-generated content may be incorrect.">
            <a:extLst>
              <a:ext uri="{FF2B5EF4-FFF2-40B4-BE49-F238E27FC236}">
                <a16:creationId xmlns:a16="http://schemas.microsoft.com/office/drawing/2014/main" id="{52618047-CFB7-65CB-03E5-AA4985E91B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735" y="805738"/>
            <a:ext cx="3351600" cy="2783532"/>
          </a:xfrm>
          <a:prstGeom prst="rect">
            <a:avLst/>
          </a:prstGeom>
        </p:spPr>
      </p:pic>
      <p:pic>
        <p:nvPicPr>
          <p:cNvPr id="13" name="Picture 12" descr="A ultrasound image of a fetus&#10;&#10;AI-generated content may be incorrect.">
            <a:extLst>
              <a:ext uri="{FF2B5EF4-FFF2-40B4-BE49-F238E27FC236}">
                <a16:creationId xmlns:a16="http://schemas.microsoft.com/office/drawing/2014/main" id="{B6F6446A-D842-B050-7BF3-79D5554BCF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3621" y="898940"/>
            <a:ext cx="3351600" cy="2597128"/>
          </a:xfrm>
          <a:prstGeom prst="rect">
            <a:avLst/>
          </a:prstGeom>
        </p:spPr>
      </p:pic>
      <p:pic>
        <p:nvPicPr>
          <p:cNvPr id="15" name="Picture 14" descr="A ultrasound image of a baby&#10;&#10;AI-generated content may be incorrect.">
            <a:extLst>
              <a:ext uri="{FF2B5EF4-FFF2-40B4-BE49-F238E27FC236}">
                <a16:creationId xmlns:a16="http://schemas.microsoft.com/office/drawing/2014/main" id="{0E698D93-8C89-A355-D287-3F594A5384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9259" y="4126584"/>
            <a:ext cx="3351600" cy="2600881"/>
          </a:xfrm>
          <a:prstGeom prst="rect">
            <a:avLst/>
          </a:prstGeom>
        </p:spPr>
      </p:pic>
      <p:pic>
        <p:nvPicPr>
          <p:cNvPr id="17" name="Picture 16" descr="A ultrasound image of a baby&#10;&#10;AI-generated content may be incorrect.">
            <a:extLst>
              <a:ext uri="{FF2B5EF4-FFF2-40B4-BE49-F238E27FC236}">
                <a16:creationId xmlns:a16="http://schemas.microsoft.com/office/drawing/2014/main" id="{3BC99BC0-8DFB-28F9-38F8-2279027F2A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922" y="4149365"/>
            <a:ext cx="3333750" cy="2578100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973A2A4-CE21-DE97-F051-68B695A6C958}"/>
              </a:ext>
            </a:extLst>
          </p:cNvPr>
          <p:cNvCxnSpPr/>
          <p:nvPr/>
        </p:nvCxnSpPr>
        <p:spPr>
          <a:xfrm>
            <a:off x="71500" y="2182893"/>
            <a:ext cx="324036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3FB3396-9E36-177E-1AFD-0A2B9C960F6A}"/>
              </a:ext>
            </a:extLst>
          </p:cNvPr>
          <p:cNvCxnSpPr/>
          <p:nvPr/>
        </p:nvCxnSpPr>
        <p:spPr>
          <a:xfrm>
            <a:off x="3959932" y="5394227"/>
            <a:ext cx="720080" cy="0"/>
          </a:xfrm>
          <a:prstGeom prst="straightConnector1">
            <a:avLst/>
          </a:prstGeom>
          <a:ln>
            <a:solidFill>
              <a:srgbClr val="1DA63F"/>
            </a:solidFill>
            <a:headEnd type="triangle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9B141CA-5DEC-265D-CB7B-7FCCBF600C7B}"/>
              </a:ext>
            </a:extLst>
          </p:cNvPr>
          <p:cNvCxnSpPr>
            <a:cxnSpLocks/>
          </p:cNvCxnSpPr>
          <p:nvPr/>
        </p:nvCxnSpPr>
        <p:spPr>
          <a:xfrm>
            <a:off x="6639421" y="3609020"/>
            <a:ext cx="0" cy="44835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" name="Google Shape;1073;p61">
            <a:hlinkClick r:id="" action="ppaction://noaction"/>
            <a:extLst>
              <a:ext uri="{FF2B5EF4-FFF2-40B4-BE49-F238E27FC236}">
                <a16:creationId xmlns:a16="http://schemas.microsoft.com/office/drawing/2014/main" id="{D0151AF3-303F-A5FE-AC56-09A3F6F4B516}"/>
              </a:ext>
            </a:extLst>
          </p:cNvPr>
          <p:cNvSpPr txBox="1">
            <a:spLocks/>
          </p:cNvSpPr>
          <p:nvPr/>
        </p:nvSpPr>
        <p:spPr>
          <a:xfrm>
            <a:off x="1778091" y="130535"/>
            <a:ext cx="7365909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  <a:buClr>
                <a:srgbClr val="1DA63F"/>
              </a:buClr>
            </a:pPr>
            <a:r>
              <a:rPr lang="ro-RO" b="1" noProof="1">
                <a:latin typeface="UT Sans" panose="00000500000000000000" pitchFamily="2" charset="0"/>
              </a:rPr>
              <a:t>3. Etapele de dezvoltare ale studiului</a:t>
            </a:r>
          </a:p>
        </p:txBody>
      </p:sp>
    </p:spTree>
    <p:extLst>
      <p:ext uri="{BB962C8B-B14F-4D97-AF65-F5344CB8AC3E}">
        <p14:creationId xmlns:p14="http://schemas.microsoft.com/office/powerpoint/2010/main" val="38934396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6B6A4-C478-79B9-C778-2B7120A1E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9A2ED8C-0D22-CFB2-B545-603D11B90612}"/>
              </a:ext>
            </a:extLst>
          </p:cNvPr>
          <p:cNvGrpSpPr/>
          <p:nvPr/>
        </p:nvGrpSpPr>
        <p:grpSpPr>
          <a:xfrm>
            <a:off x="8460432" y="6237312"/>
            <a:ext cx="216000" cy="216000"/>
            <a:chOff x="2772000" y="1932221"/>
            <a:chExt cx="2340000" cy="2340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7524653-08A9-7815-A288-395E93A39BCC}"/>
                </a:ext>
              </a:extLst>
            </p:cNvPr>
            <p:cNvSpPr/>
            <p:nvPr/>
          </p:nvSpPr>
          <p:spPr>
            <a:xfrm>
              <a:off x="2772000" y="1932221"/>
              <a:ext cx="2340000" cy="23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o-RO" noProof="1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D19766C-BF4C-1BF5-73C9-B9C6876B5A7B}"/>
                </a:ext>
              </a:extLst>
            </p:cNvPr>
            <p:cNvSpPr/>
            <p:nvPr/>
          </p:nvSpPr>
          <p:spPr>
            <a:xfrm>
              <a:off x="3546000" y="2706221"/>
              <a:ext cx="792000" cy="79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o-RO" noProof="1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5BF5ED37-198B-59FD-9410-CE3B08EB36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699" y="246185"/>
            <a:ext cx="1688792" cy="477750"/>
          </a:xfrm>
          <a:prstGeom prst="rect">
            <a:avLst/>
          </a:prstGeom>
        </p:spPr>
      </p:pic>
      <p:pic>
        <p:nvPicPr>
          <p:cNvPr id="17" name="Picture 16" descr="A ultrasound image of a baby&#10;&#10;AI-generated content may be incorrect.">
            <a:extLst>
              <a:ext uri="{FF2B5EF4-FFF2-40B4-BE49-F238E27FC236}">
                <a16:creationId xmlns:a16="http://schemas.microsoft.com/office/drawing/2014/main" id="{36F2D27B-9FF8-E2E6-D9BD-177E22C36E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230" y="1174765"/>
            <a:ext cx="7560840" cy="5257122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3" name="Google Shape;1073;p61">
            <a:hlinkClick r:id="" action="ppaction://noaction"/>
            <a:extLst>
              <a:ext uri="{FF2B5EF4-FFF2-40B4-BE49-F238E27FC236}">
                <a16:creationId xmlns:a16="http://schemas.microsoft.com/office/drawing/2014/main" id="{DF265EFD-8471-F097-E9D5-EC53EAB8BA8E}"/>
              </a:ext>
            </a:extLst>
          </p:cNvPr>
          <p:cNvSpPr txBox="1">
            <a:spLocks/>
          </p:cNvSpPr>
          <p:nvPr/>
        </p:nvSpPr>
        <p:spPr>
          <a:xfrm>
            <a:off x="1778091" y="130535"/>
            <a:ext cx="7365909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  <a:buClr>
                <a:srgbClr val="1DA63F"/>
              </a:buClr>
            </a:pPr>
            <a:r>
              <a:rPr lang="ro-RO" b="1" noProof="1">
                <a:latin typeface="UT Sans" panose="00000500000000000000" pitchFamily="2" charset="0"/>
              </a:rPr>
              <a:t>3. Etapele de dezvoltare ale studiului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3E0569F-22FA-3C1F-D358-0FF447F93F55}"/>
              </a:ext>
            </a:extLst>
          </p:cNvPr>
          <p:cNvSpPr/>
          <p:nvPr/>
        </p:nvSpPr>
        <p:spPr>
          <a:xfrm rot="390886">
            <a:off x="3840233" y="2169278"/>
            <a:ext cx="342197" cy="309972"/>
          </a:xfrm>
          <a:prstGeom prst="rect">
            <a:avLst/>
          </a:prstGeom>
          <a:solidFill>
            <a:srgbClr val="FF0000"/>
          </a:solidFill>
          <a:ln>
            <a:solidFill>
              <a:schemeClr val="bg2">
                <a:alpha val="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3C7B44F-86E8-1F98-871A-73F1A730CCF8}"/>
              </a:ext>
            </a:extLst>
          </p:cNvPr>
          <p:cNvSpPr/>
          <p:nvPr/>
        </p:nvSpPr>
        <p:spPr>
          <a:xfrm rot="169694">
            <a:off x="4030463" y="3039796"/>
            <a:ext cx="433529" cy="410798"/>
          </a:xfrm>
          <a:prstGeom prst="rect">
            <a:avLst/>
          </a:prstGeom>
          <a:solidFill>
            <a:srgbClr val="FF0000"/>
          </a:solidFill>
          <a:ln>
            <a:solidFill>
              <a:schemeClr val="bg2">
                <a:alpha val="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2719C55-E3D1-3B7A-F104-32A9F1B02E29}"/>
              </a:ext>
            </a:extLst>
          </p:cNvPr>
          <p:cNvCxnSpPr>
            <a:cxnSpLocks/>
          </p:cNvCxnSpPr>
          <p:nvPr/>
        </p:nvCxnSpPr>
        <p:spPr>
          <a:xfrm flipV="1">
            <a:off x="4180273" y="1010504"/>
            <a:ext cx="1208185" cy="1152128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Google Shape;1073;p61">
            <a:hlinkClick r:id="" action="ppaction://noaction"/>
            <a:extLst>
              <a:ext uri="{FF2B5EF4-FFF2-40B4-BE49-F238E27FC236}">
                <a16:creationId xmlns:a16="http://schemas.microsoft.com/office/drawing/2014/main" id="{AF22FADC-BD44-BD1A-BC8E-01A1FA72F9B5}"/>
              </a:ext>
            </a:extLst>
          </p:cNvPr>
          <p:cNvSpPr txBox="1">
            <a:spLocks/>
          </p:cNvSpPr>
          <p:nvPr/>
        </p:nvSpPr>
        <p:spPr>
          <a:xfrm>
            <a:off x="5346612" y="652650"/>
            <a:ext cx="1368152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  <a:buClr>
                <a:srgbClr val="1DA63F"/>
              </a:buClr>
            </a:pPr>
            <a:r>
              <a:rPr lang="en-US" sz="1800" b="1" noProof="1">
                <a:latin typeface="UT Sans" panose="00000500000000000000" pitchFamily="2" charset="0"/>
              </a:rPr>
              <a:t>Celula (4,4)</a:t>
            </a:r>
            <a:endParaRPr lang="ro-RO" sz="1800" b="1" noProof="1">
              <a:latin typeface="UT Sans" panose="00000500000000000000" pitchFamily="2" charset="0"/>
            </a:endParaRP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B8B3E73-D3DE-61CF-26C3-B3F6F699640D}"/>
              </a:ext>
            </a:extLst>
          </p:cNvPr>
          <p:cNvCxnSpPr>
            <a:cxnSpLocks/>
          </p:cNvCxnSpPr>
          <p:nvPr/>
        </p:nvCxnSpPr>
        <p:spPr>
          <a:xfrm flipV="1">
            <a:off x="4473863" y="2497661"/>
            <a:ext cx="3914561" cy="747534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Google Shape;1073;p61">
            <a:hlinkClick r:id="" action="ppaction://noaction"/>
            <a:extLst>
              <a:ext uri="{FF2B5EF4-FFF2-40B4-BE49-F238E27FC236}">
                <a16:creationId xmlns:a16="http://schemas.microsoft.com/office/drawing/2014/main" id="{3BDAF910-4AD1-62A3-8E8C-DF1FCAA17707}"/>
              </a:ext>
            </a:extLst>
          </p:cNvPr>
          <p:cNvSpPr txBox="1">
            <a:spLocks/>
          </p:cNvSpPr>
          <p:nvPr/>
        </p:nvSpPr>
        <p:spPr>
          <a:xfrm>
            <a:off x="8314073" y="2267664"/>
            <a:ext cx="814332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  <a:buClr>
                <a:srgbClr val="1DA63F"/>
              </a:buClr>
            </a:pPr>
            <a:r>
              <a:rPr lang="en-US" sz="1800" b="1" noProof="1">
                <a:latin typeface="UT Sans" panose="00000500000000000000" pitchFamily="2" charset="0"/>
              </a:rPr>
              <a:t>Celula (7,5)</a:t>
            </a:r>
            <a:endParaRPr lang="ro-RO" sz="1800" b="1" noProof="1">
              <a:latin typeface="UT Sa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06022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90803-D048-35E2-847C-DBBA23930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83A249B0-4B42-9D19-B545-99FDF2C39B76}"/>
              </a:ext>
            </a:extLst>
          </p:cNvPr>
          <p:cNvGrpSpPr/>
          <p:nvPr/>
        </p:nvGrpSpPr>
        <p:grpSpPr>
          <a:xfrm>
            <a:off x="8460432" y="6237312"/>
            <a:ext cx="216000" cy="216000"/>
            <a:chOff x="2772000" y="1932221"/>
            <a:chExt cx="2340000" cy="2340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D9268EC-4C14-C507-35E8-29FF883900AB}"/>
                </a:ext>
              </a:extLst>
            </p:cNvPr>
            <p:cNvSpPr/>
            <p:nvPr/>
          </p:nvSpPr>
          <p:spPr>
            <a:xfrm>
              <a:off x="2772000" y="1932221"/>
              <a:ext cx="2340000" cy="23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o-RO" noProof="1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D038AEF-B94C-5E0E-1FAA-C8C683A13D40}"/>
                </a:ext>
              </a:extLst>
            </p:cNvPr>
            <p:cNvSpPr/>
            <p:nvPr/>
          </p:nvSpPr>
          <p:spPr>
            <a:xfrm>
              <a:off x="3546000" y="2706221"/>
              <a:ext cx="792000" cy="79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o-RO" noProof="1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7AF88CBE-A6B4-5C0C-562A-7CD4F25DE00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332656"/>
            <a:ext cx="1688792" cy="477750"/>
          </a:xfrm>
          <a:prstGeom prst="rect">
            <a:avLst/>
          </a:prstGeom>
        </p:spPr>
      </p:pic>
      <p:pic>
        <p:nvPicPr>
          <p:cNvPr id="3" name="Picture 2" descr="A graph of a number of components&#10;&#10;AI-generated content may be incorrect.">
            <a:extLst>
              <a:ext uri="{FF2B5EF4-FFF2-40B4-BE49-F238E27FC236}">
                <a16:creationId xmlns:a16="http://schemas.microsoft.com/office/drawing/2014/main" id="{7001404B-E8A1-403D-2353-CBB89760B6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178750"/>
            <a:ext cx="7344816" cy="450049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073;p61">
            <a:hlinkClick r:id="" action="ppaction://noaction"/>
            <a:extLst>
              <a:ext uri="{FF2B5EF4-FFF2-40B4-BE49-F238E27FC236}">
                <a16:creationId xmlns:a16="http://schemas.microsoft.com/office/drawing/2014/main" id="{BAE51F4F-D396-78F0-07A3-AE2162344523}"/>
              </a:ext>
            </a:extLst>
          </p:cNvPr>
          <p:cNvSpPr txBox="1">
            <a:spLocks/>
          </p:cNvSpPr>
          <p:nvPr/>
        </p:nvSpPr>
        <p:spPr>
          <a:xfrm>
            <a:off x="1786978" y="274831"/>
            <a:ext cx="7365909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  <a:buClr>
                <a:srgbClr val="1DA63F"/>
              </a:buClr>
            </a:pPr>
            <a:r>
              <a:rPr lang="ro-RO" b="1" noProof="1">
                <a:latin typeface="UT Sans" panose="00000500000000000000" pitchFamily="2" charset="0"/>
              </a:rPr>
              <a:t>3. Etapele de dezvoltare ale studiului</a:t>
            </a:r>
          </a:p>
        </p:txBody>
      </p:sp>
    </p:spTree>
    <p:extLst>
      <p:ext uri="{BB962C8B-B14F-4D97-AF65-F5344CB8AC3E}">
        <p14:creationId xmlns:p14="http://schemas.microsoft.com/office/powerpoint/2010/main" val="14155399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B891D-CADB-7710-5BD4-863FBBAC6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FDF3576-309E-6A64-1854-65EC87015DC5}"/>
              </a:ext>
            </a:extLst>
          </p:cNvPr>
          <p:cNvGrpSpPr/>
          <p:nvPr/>
        </p:nvGrpSpPr>
        <p:grpSpPr>
          <a:xfrm>
            <a:off x="8460432" y="6237312"/>
            <a:ext cx="216000" cy="216000"/>
            <a:chOff x="2772000" y="1932221"/>
            <a:chExt cx="2340000" cy="2340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3C71C7F-474D-4FA2-CD54-D059FAAA7151}"/>
                </a:ext>
              </a:extLst>
            </p:cNvPr>
            <p:cNvSpPr/>
            <p:nvPr/>
          </p:nvSpPr>
          <p:spPr>
            <a:xfrm>
              <a:off x="2772000" y="1932221"/>
              <a:ext cx="2340000" cy="23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o-RO" noProof="1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2D24690-9F3B-FDD5-DA72-EBFA92A28D3D}"/>
                </a:ext>
              </a:extLst>
            </p:cNvPr>
            <p:cNvSpPr/>
            <p:nvPr/>
          </p:nvSpPr>
          <p:spPr>
            <a:xfrm>
              <a:off x="3546000" y="2706221"/>
              <a:ext cx="792000" cy="79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o-RO" noProof="1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320C2F82-9F80-6A84-CE65-57AD658C06E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332656"/>
            <a:ext cx="1688792" cy="477750"/>
          </a:xfrm>
          <a:prstGeom prst="rect">
            <a:avLst/>
          </a:prstGeom>
        </p:spPr>
      </p:pic>
      <p:pic>
        <p:nvPicPr>
          <p:cNvPr id="8" name="Picture 7" descr="A graph of a graph with numbers and lines&#10;&#10;AI-generated content may be incorrect.">
            <a:extLst>
              <a:ext uri="{FF2B5EF4-FFF2-40B4-BE49-F238E27FC236}">
                <a16:creationId xmlns:a16="http://schemas.microsoft.com/office/drawing/2014/main" id="{FE65ECC0-3F9C-A07D-7C3F-A48F6B773D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000" y="1258085"/>
            <a:ext cx="7344000" cy="434182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073;p61">
            <a:hlinkClick r:id="" action="ppaction://noaction"/>
            <a:extLst>
              <a:ext uri="{FF2B5EF4-FFF2-40B4-BE49-F238E27FC236}">
                <a16:creationId xmlns:a16="http://schemas.microsoft.com/office/drawing/2014/main" id="{6FAD1E96-0AE1-9886-3E80-24640033774E}"/>
              </a:ext>
            </a:extLst>
          </p:cNvPr>
          <p:cNvSpPr txBox="1">
            <a:spLocks/>
          </p:cNvSpPr>
          <p:nvPr/>
        </p:nvSpPr>
        <p:spPr>
          <a:xfrm>
            <a:off x="1871700" y="274831"/>
            <a:ext cx="7365909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  <a:buClr>
                <a:srgbClr val="1DA63F"/>
              </a:buClr>
            </a:pPr>
            <a:r>
              <a:rPr lang="ro-RO" b="1" noProof="1">
                <a:latin typeface="UT Sans" panose="00000500000000000000" pitchFamily="2" charset="0"/>
              </a:rPr>
              <a:t>3. Etapele de dezvoltare ale studiului</a:t>
            </a:r>
          </a:p>
        </p:txBody>
      </p:sp>
    </p:spTree>
    <p:extLst>
      <p:ext uri="{BB962C8B-B14F-4D97-AF65-F5344CB8AC3E}">
        <p14:creationId xmlns:p14="http://schemas.microsoft.com/office/powerpoint/2010/main" val="27980233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5741B-9FAA-7FD6-B5D1-95BF7BCBA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E74BF8C-D2D9-AC54-2B3C-5DDC2246E75F}"/>
              </a:ext>
            </a:extLst>
          </p:cNvPr>
          <p:cNvGrpSpPr/>
          <p:nvPr/>
        </p:nvGrpSpPr>
        <p:grpSpPr>
          <a:xfrm>
            <a:off x="8460432" y="6237312"/>
            <a:ext cx="216000" cy="216000"/>
            <a:chOff x="2772000" y="1932221"/>
            <a:chExt cx="2340000" cy="2340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31F2E95-EF50-A687-FB8A-B907F8CDC59E}"/>
                </a:ext>
              </a:extLst>
            </p:cNvPr>
            <p:cNvSpPr/>
            <p:nvPr/>
          </p:nvSpPr>
          <p:spPr>
            <a:xfrm>
              <a:off x="2772000" y="1932221"/>
              <a:ext cx="2340000" cy="23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o-RO" noProof="1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726CA6C-EA54-A666-EC32-6E73C9492EDD}"/>
                </a:ext>
              </a:extLst>
            </p:cNvPr>
            <p:cNvSpPr/>
            <p:nvPr/>
          </p:nvSpPr>
          <p:spPr>
            <a:xfrm>
              <a:off x="3546000" y="2706221"/>
              <a:ext cx="792000" cy="79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o-RO" noProof="1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0C25B818-9C54-3468-4F18-47B8426E586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332656"/>
            <a:ext cx="1688792" cy="477750"/>
          </a:xfrm>
          <a:prstGeom prst="rect">
            <a:avLst/>
          </a:prstGeom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762878C-F4F9-43F6-7ABB-36E8A90EB1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947" y="1340768"/>
            <a:ext cx="8424912" cy="392395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BFB331B-61B7-34B5-9E0F-B357792ED0D3}"/>
              </a:ext>
            </a:extLst>
          </p:cNvPr>
          <p:cNvSpPr txBox="1"/>
          <p:nvPr/>
        </p:nvSpPr>
        <p:spPr>
          <a:xfrm>
            <a:off x="791580" y="5479963"/>
            <a:ext cx="7560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2400" noProof="1">
                <a:latin typeface="UT Sans" panose="00000500000000000000" pitchFamily="2" charset="0"/>
              </a:rPr>
              <a:t>Structura tabelului Excel rezultat din analiza GMM</a:t>
            </a:r>
          </a:p>
        </p:txBody>
      </p:sp>
      <p:sp>
        <p:nvSpPr>
          <p:cNvPr id="8" name="Google Shape;1073;p61">
            <a:hlinkClick r:id="" action="ppaction://noaction"/>
            <a:extLst>
              <a:ext uri="{FF2B5EF4-FFF2-40B4-BE49-F238E27FC236}">
                <a16:creationId xmlns:a16="http://schemas.microsoft.com/office/drawing/2014/main" id="{6BB61155-59D5-CFAD-0D55-74B57E0698ED}"/>
              </a:ext>
            </a:extLst>
          </p:cNvPr>
          <p:cNvSpPr txBox="1">
            <a:spLocks/>
          </p:cNvSpPr>
          <p:nvPr/>
        </p:nvSpPr>
        <p:spPr>
          <a:xfrm>
            <a:off x="1828333" y="274831"/>
            <a:ext cx="7365909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  <a:buClr>
                <a:srgbClr val="1DA63F"/>
              </a:buClr>
            </a:pPr>
            <a:r>
              <a:rPr lang="ro-RO" b="1" noProof="1">
                <a:latin typeface="UT Sans" panose="00000500000000000000" pitchFamily="2" charset="0"/>
              </a:rPr>
              <a:t>3. Etapele de dezvoltare ale studiului</a:t>
            </a:r>
          </a:p>
        </p:txBody>
      </p:sp>
    </p:spTree>
    <p:extLst>
      <p:ext uri="{BB962C8B-B14F-4D97-AF65-F5344CB8AC3E}">
        <p14:creationId xmlns:p14="http://schemas.microsoft.com/office/powerpoint/2010/main" val="39483219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099DD-196B-FBC6-CF4C-D713AB7AC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A3899B02-9770-BEDD-5FCE-2EED5249737E}"/>
              </a:ext>
            </a:extLst>
          </p:cNvPr>
          <p:cNvGrpSpPr/>
          <p:nvPr/>
        </p:nvGrpSpPr>
        <p:grpSpPr>
          <a:xfrm>
            <a:off x="8460432" y="6237312"/>
            <a:ext cx="216000" cy="216000"/>
            <a:chOff x="2772000" y="1932221"/>
            <a:chExt cx="2340000" cy="2340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B160291-EFAD-3C2B-7D84-4DE14AE40AB6}"/>
                </a:ext>
              </a:extLst>
            </p:cNvPr>
            <p:cNvSpPr/>
            <p:nvPr/>
          </p:nvSpPr>
          <p:spPr>
            <a:xfrm>
              <a:off x="2772000" y="1932221"/>
              <a:ext cx="2340000" cy="23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o-RO" noProof="1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C117DC0-63DF-5167-A9EC-9F27601423E1}"/>
                </a:ext>
              </a:extLst>
            </p:cNvPr>
            <p:cNvSpPr/>
            <p:nvPr/>
          </p:nvSpPr>
          <p:spPr>
            <a:xfrm>
              <a:off x="3546000" y="2706221"/>
              <a:ext cx="792000" cy="79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o-RO" noProof="1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71F9A66F-1147-B7C2-E778-27988F10647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138" y="166857"/>
            <a:ext cx="1688792" cy="477750"/>
          </a:xfrm>
          <a:prstGeom prst="rect">
            <a:avLst/>
          </a:prstGeom>
        </p:spPr>
      </p:pic>
      <p:pic>
        <p:nvPicPr>
          <p:cNvPr id="17" name="Picture 16" descr="A ultrasound image of a baby&#10;&#10;AI-generated content may be incorrect.">
            <a:extLst>
              <a:ext uri="{FF2B5EF4-FFF2-40B4-BE49-F238E27FC236}">
                <a16:creationId xmlns:a16="http://schemas.microsoft.com/office/drawing/2014/main" id="{08BE731B-CCE1-2A49-B4AA-8AB639AAE6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534" y="1095364"/>
            <a:ext cx="6609824" cy="5206677"/>
          </a:xfrm>
          <a:prstGeom prst="rect">
            <a:avLst/>
          </a:prstGeom>
        </p:spPr>
      </p:pic>
      <p:sp>
        <p:nvSpPr>
          <p:cNvPr id="3" name="Google Shape;1073;p61">
            <a:hlinkClick r:id="" action="ppaction://noaction"/>
            <a:extLst>
              <a:ext uri="{FF2B5EF4-FFF2-40B4-BE49-F238E27FC236}">
                <a16:creationId xmlns:a16="http://schemas.microsoft.com/office/drawing/2014/main" id="{9421B327-2C3D-84C5-FAB4-F0706E08F94A}"/>
              </a:ext>
            </a:extLst>
          </p:cNvPr>
          <p:cNvSpPr txBox="1">
            <a:spLocks/>
          </p:cNvSpPr>
          <p:nvPr/>
        </p:nvSpPr>
        <p:spPr>
          <a:xfrm>
            <a:off x="1778091" y="130535"/>
            <a:ext cx="7365909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  <a:buClr>
                <a:srgbClr val="1DA63F"/>
              </a:buClr>
            </a:pPr>
            <a:r>
              <a:rPr lang="ro-RO" b="1" noProof="1">
                <a:latin typeface="UT Sans" panose="00000500000000000000" pitchFamily="2" charset="0"/>
              </a:rPr>
              <a:t>3. Etapele de dezvoltare ale studiului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F378F29-F763-8C5A-C132-8EA6CDE0CFB8}"/>
              </a:ext>
            </a:extLst>
          </p:cNvPr>
          <p:cNvCxnSpPr>
            <a:cxnSpLocks/>
          </p:cNvCxnSpPr>
          <p:nvPr/>
        </p:nvCxnSpPr>
        <p:spPr>
          <a:xfrm flipH="1">
            <a:off x="1403642" y="1095364"/>
            <a:ext cx="2448278" cy="452988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BB1D72B-B54C-629D-9054-F652B6348706}"/>
              </a:ext>
            </a:extLst>
          </p:cNvPr>
          <p:cNvCxnSpPr>
            <a:cxnSpLocks/>
          </p:cNvCxnSpPr>
          <p:nvPr/>
        </p:nvCxnSpPr>
        <p:spPr>
          <a:xfrm flipH="1">
            <a:off x="2015716" y="1095364"/>
            <a:ext cx="2016224" cy="4755789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551F004-9A48-E4E6-653F-CBA7883BF2D5}"/>
              </a:ext>
            </a:extLst>
          </p:cNvPr>
          <p:cNvCxnSpPr>
            <a:cxnSpLocks/>
          </p:cNvCxnSpPr>
          <p:nvPr/>
        </p:nvCxnSpPr>
        <p:spPr>
          <a:xfrm flipH="1" flipV="1">
            <a:off x="1403642" y="5573942"/>
            <a:ext cx="648078" cy="277211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3FFFB6F-15C8-EF57-40DA-EB7C9A3E8429}"/>
              </a:ext>
            </a:extLst>
          </p:cNvPr>
          <p:cNvCxnSpPr>
            <a:cxnSpLocks/>
          </p:cNvCxnSpPr>
          <p:nvPr/>
        </p:nvCxnSpPr>
        <p:spPr>
          <a:xfrm flipH="1">
            <a:off x="3851920" y="1124744"/>
            <a:ext cx="180020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20903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A3DFE-7A09-22FD-3F5C-46312669D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3942F539-647E-1289-F185-61F91467B5B8}"/>
              </a:ext>
            </a:extLst>
          </p:cNvPr>
          <p:cNvGrpSpPr/>
          <p:nvPr/>
        </p:nvGrpSpPr>
        <p:grpSpPr>
          <a:xfrm>
            <a:off x="8460432" y="6237312"/>
            <a:ext cx="216000" cy="216000"/>
            <a:chOff x="2772000" y="1932221"/>
            <a:chExt cx="2340000" cy="2340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D93ADC2-C8C3-F3C1-6A43-AC80AD788F8C}"/>
                </a:ext>
              </a:extLst>
            </p:cNvPr>
            <p:cNvSpPr/>
            <p:nvPr/>
          </p:nvSpPr>
          <p:spPr>
            <a:xfrm>
              <a:off x="2772000" y="1932221"/>
              <a:ext cx="2340000" cy="23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o-RO" noProof="1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37EC726-2399-7E6B-9DF6-11D7A638F6CE}"/>
                </a:ext>
              </a:extLst>
            </p:cNvPr>
            <p:cNvSpPr/>
            <p:nvPr/>
          </p:nvSpPr>
          <p:spPr>
            <a:xfrm>
              <a:off x="3546000" y="2706221"/>
              <a:ext cx="792000" cy="79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o-RO" noProof="1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6EABD12F-B351-C773-9D0A-460DEB099F7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332656"/>
            <a:ext cx="1688792" cy="4777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FC67E6F-81A6-F926-8DB4-951D47BC2CD7}"/>
              </a:ext>
            </a:extLst>
          </p:cNvPr>
          <p:cNvSpPr txBox="1"/>
          <p:nvPr/>
        </p:nvSpPr>
        <p:spPr>
          <a:xfrm>
            <a:off x="719572" y="5384405"/>
            <a:ext cx="7560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2400" noProof="1">
                <a:latin typeface="UT Sans" panose="00000500000000000000" pitchFamily="2" charset="0"/>
              </a:rPr>
              <a:t>Structura tabelului Excel rezultat din analiza gradientului</a:t>
            </a: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E199D34-1571-E36E-6AE3-F2B6224FA9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89" y="1376772"/>
            <a:ext cx="8932822" cy="3616392"/>
          </a:xfrm>
          <a:prstGeom prst="rect">
            <a:avLst/>
          </a:prstGeom>
        </p:spPr>
      </p:pic>
      <p:sp>
        <p:nvSpPr>
          <p:cNvPr id="3" name="Google Shape;1073;p61">
            <a:hlinkClick r:id="" action="ppaction://noaction"/>
            <a:extLst>
              <a:ext uri="{FF2B5EF4-FFF2-40B4-BE49-F238E27FC236}">
                <a16:creationId xmlns:a16="http://schemas.microsoft.com/office/drawing/2014/main" id="{67B44DF8-AD34-FD7E-B01B-FC9DDA8AE21B}"/>
              </a:ext>
            </a:extLst>
          </p:cNvPr>
          <p:cNvSpPr txBox="1">
            <a:spLocks/>
          </p:cNvSpPr>
          <p:nvPr/>
        </p:nvSpPr>
        <p:spPr>
          <a:xfrm>
            <a:off x="1907704" y="274831"/>
            <a:ext cx="7365909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  <a:buClr>
                <a:srgbClr val="1DA63F"/>
              </a:buClr>
            </a:pPr>
            <a:r>
              <a:rPr lang="ro-RO" b="1" noProof="1">
                <a:latin typeface="UT Sans" panose="00000500000000000000" pitchFamily="2" charset="0"/>
              </a:rPr>
              <a:t>3. Etapele de dezvoltare ale studiului</a:t>
            </a:r>
          </a:p>
        </p:txBody>
      </p:sp>
    </p:spTree>
    <p:extLst>
      <p:ext uri="{BB962C8B-B14F-4D97-AF65-F5344CB8AC3E}">
        <p14:creationId xmlns:p14="http://schemas.microsoft.com/office/powerpoint/2010/main" val="18240441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2E368-0D17-B503-F122-E41139713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297937E-C844-30AD-11B0-3E4D0D877054}"/>
              </a:ext>
            </a:extLst>
          </p:cNvPr>
          <p:cNvGrpSpPr/>
          <p:nvPr/>
        </p:nvGrpSpPr>
        <p:grpSpPr>
          <a:xfrm>
            <a:off x="8460432" y="6237312"/>
            <a:ext cx="216000" cy="216000"/>
            <a:chOff x="2772000" y="1932221"/>
            <a:chExt cx="2340000" cy="2340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FF1762B-B492-09C3-0E3E-D630861D744D}"/>
                </a:ext>
              </a:extLst>
            </p:cNvPr>
            <p:cNvSpPr/>
            <p:nvPr/>
          </p:nvSpPr>
          <p:spPr>
            <a:xfrm>
              <a:off x="2772000" y="1932221"/>
              <a:ext cx="2340000" cy="23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o-RO" noProof="1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087C25A-F355-B7E0-2E15-6149337B1CF7}"/>
                </a:ext>
              </a:extLst>
            </p:cNvPr>
            <p:cNvSpPr/>
            <p:nvPr/>
          </p:nvSpPr>
          <p:spPr>
            <a:xfrm>
              <a:off x="3546000" y="2706221"/>
              <a:ext cx="792000" cy="79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o-RO" noProof="1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EE7F4185-1BDD-908F-7779-51A9FE53464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332656"/>
            <a:ext cx="1688792" cy="4777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B36D74A-7913-3E04-30B6-A5D01B7461EE}"/>
              </a:ext>
            </a:extLst>
          </p:cNvPr>
          <p:cNvSpPr txBox="1"/>
          <p:nvPr/>
        </p:nvSpPr>
        <p:spPr>
          <a:xfrm>
            <a:off x="683567" y="6114479"/>
            <a:ext cx="7560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2400" noProof="1">
                <a:latin typeface="UT Sans" panose="00000500000000000000" pitchFamily="2" charset="0"/>
              </a:rPr>
              <a:t>Structura tabelului Excel rezultat din analiza agregată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24C00FB-1067-F7E9-E022-FE1C50650E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4328" y="1220605"/>
            <a:ext cx="4720691" cy="4667171"/>
          </a:xfrm>
          <a:prstGeom prst="rect">
            <a:avLst/>
          </a:prstGeom>
        </p:spPr>
      </p:pic>
      <p:sp>
        <p:nvSpPr>
          <p:cNvPr id="8" name="Google Shape;1073;p61">
            <a:hlinkClick r:id="" action="ppaction://noaction"/>
            <a:extLst>
              <a:ext uri="{FF2B5EF4-FFF2-40B4-BE49-F238E27FC236}">
                <a16:creationId xmlns:a16="http://schemas.microsoft.com/office/drawing/2014/main" id="{5E049C22-6821-B10B-CD1A-6124A56B88B7}"/>
              </a:ext>
            </a:extLst>
          </p:cNvPr>
          <p:cNvSpPr txBox="1">
            <a:spLocks/>
          </p:cNvSpPr>
          <p:nvPr/>
        </p:nvSpPr>
        <p:spPr>
          <a:xfrm>
            <a:off x="1871700" y="274831"/>
            <a:ext cx="7365909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  <a:buClr>
                <a:srgbClr val="1DA63F"/>
              </a:buClr>
            </a:pPr>
            <a:r>
              <a:rPr lang="ro-RO" b="1" noProof="1">
                <a:latin typeface="UT Sans" panose="00000500000000000000" pitchFamily="2" charset="0"/>
              </a:rPr>
              <a:t>3. Etapele de dezvoltare ale studiului</a:t>
            </a:r>
          </a:p>
        </p:txBody>
      </p:sp>
    </p:spTree>
    <p:extLst>
      <p:ext uri="{BB962C8B-B14F-4D97-AF65-F5344CB8AC3E}">
        <p14:creationId xmlns:p14="http://schemas.microsoft.com/office/powerpoint/2010/main" val="13203663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11E14-5360-8924-DD8F-68635DD71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DAF89E54-D75C-3C1C-33F9-DAE9BB1515BD}"/>
              </a:ext>
            </a:extLst>
          </p:cNvPr>
          <p:cNvGrpSpPr/>
          <p:nvPr/>
        </p:nvGrpSpPr>
        <p:grpSpPr>
          <a:xfrm>
            <a:off x="8460432" y="6237312"/>
            <a:ext cx="216000" cy="216000"/>
            <a:chOff x="2772000" y="1932221"/>
            <a:chExt cx="2340000" cy="2340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0EF9AA8-BB1F-5DA8-7472-F54CA6642494}"/>
                </a:ext>
              </a:extLst>
            </p:cNvPr>
            <p:cNvSpPr/>
            <p:nvPr/>
          </p:nvSpPr>
          <p:spPr>
            <a:xfrm>
              <a:off x="2772000" y="1932221"/>
              <a:ext cx="2340000" cy="23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o-RO" noProof="1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281B019-BA42-4145-6242-1D3AD4260C3D}"/>
                </a:ext>
              </a:extLst>
            </p:cNvPr>
            <p:cNvSpPr/>
            <p:nvPr/>
          </p:nvSpPr>
          <p:spPr>
            <a:xfrm>
              <a:off x="3546000" y="2706221"/>
              <a:ext cx="792000" cy="79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o-RO" noProof="1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69AB66AD-033F-6D1E-94C2-5386E3426D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332656"/>
            <a:ext cx="1688792" cy="477750"/>
          </a:xfrm>
          <a:prstGeom prst="rect">
            <a:avLst/>
          </a:prstGeom>
        </p:spPr>
      </p:pic>
      <p:pic>
        <p:nvPicPr>
          <p:cNvPr id="8" name="Picture 7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B53889E6-A8C2-ED8D-A3EC-BE81BC0B25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082" y="1520788"/>
            <a:ext cx="8841836" cy="403989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433FCC8-E125-7F9C-5E37-42A625FC6AA5}"/>
              </a:ext>
            </a:extLst>
          </p:cNvPr>
          <p:cNvSpPr txBox="1"/>
          <p:nvPr/>
        </p:nvSpPr>
        <p:spPr>
          <a:xfrm>
            <a:off x="683568" y="5943421"/>
            <a:ext cx="8135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noProof="1">
                <a:latin typeface="UT Sans" panose="00000500000000000000" pitchFamily="2" charset="0"/>
              </a:rPr>
              <a:t>Media intensității ecografice pe adâncime în urma analizei gradientului vertical</a:t>
            </a:r>
          </a:p>
        </p:txBody>
      </p:sp>
      <p:sp>
        <p:nvSpPr>
          <p:cNvPr id="3" name="Google Shape;1073;p61">
            <a:hlinkClick r:id="" action="ppaction://noaction"/>
            <a:extLst>
              <a:ext uri="{FF2B5EF4-FFF2-40B4-BE49-F238E27FC236}">
                <a16:creationId xmlns:a16="http://schemas.microsoft.com/office/drawing/2014/main" id="{4599031F-4BD3-810D-2079-0A40DA21A1E3}"/>
              </a:ext>
            </a:extLst>
          </p:cNvPr>
          <p:cNvSpPr txBox="1">
            <a:spLocks/>
          </p:cNvSpPr>
          <p:nvPr/>
        </p:nvSpPr>
        <p:spPr>
          <a:xfrm>
            <a:off x="1798188" y="274831"/>
            <a:ext cx="7365909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  <a:buClr>
                <a:srgbClr val="1DA63F"/>
              </a:buClr>
            </a:pPr>
            <a:r>
              <a:rPr lang="ro-RO" b="1" noProof="1">
                <a:latin typeface="UT Sans" panose="00000500000000000000" pitchFamily="2" charset="0"/>
              </a:rPr>
              <a:t>3. Etapele de dezvoltare ale studiului</a:t>
            </a:r>
          </a:p>
        </p:txBody>
      </p:sp>
    </p:spTree>
    <p:extLst>
      <p:ext uri="{BB962C8B-B14F-4D97-AF65-F5344CB8AC3E}">
        <p14:creationId xmlns:p14="http://schemas.microsoft.com/office/powerpoint/2010/main" val="6117526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B7BC8-1C65-4604-633C-8C54A2DC3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7A7E884-C39D-8C96-96D7-22BED5C23C0C}"/>
              </a:ext>
            </a:extLst>
          </p:cNvPr>
          <p:cNvGrpSpPr/>
          <p:nvPr/>
        </p:nvGrpSpPr>
        <p:grpSpPr>
          <a:xfrm>
            <a:off x="8460432" y="6237312"/>
            <a:ext cx="216000" cy="216000"/>
            <a:chOff x="2772000" y="1932221"/>
            <a:chExt cx="2340000" cy="2340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6D6EC49-271C-EF4A-1A55-58157BBABB15}"/>
                </a:ext>
              </a:extLst>
            </p:cNvPr>
            <p:cNvSpPr/>
            <p:nvPr/>
          </p:nvSpPr>
          <p:spPr>
            <a:xfrm>
              <a:off x="2772000" y="1932221"/>
              <a:ext cx="2340000" cy="23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o-RO" noProof="1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FD6CF84-E3E8-F04B-605A-98BA1F81CCF0}"/>
                </a:ext>
              </a:extLst>
            </p:cNvPr>
            <p:cNvSpPr/>
            <p:nvPr/>
          </p:nvSpPr>
          <p:spPr>
            <a:xfrm>
              <a:off x="3546000" y="2706221"/>
              <a:ext cx="792000" cy="79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o-RO" noProof="1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89FAF8A8-B7DB-BB42-D062-D9A26F19FE5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332656"/>
            <a:ext cx="1688792" cy="4777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5CBAFB7-6EBA-9DFE-EB69-DA0EF502D2AF}"/>
              </a:ext>
            </a:extLst>
          </p:cNvPr>
          <p:cNvSpPr txBox="1"/>
          <p:nvPr/>
        </p:nvSpPr>
        <p:spPr>
          <a:xfrm>
            <a:off x="647564" y="5875112"/>
            <a:ext cx="81355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noProof="1">
                <a:latin typeface="UT Sans" panose="00000500000000000000" pitchFamily="2" charset="0"/>
              </a:rPr>
              <a:t>Evoluția mediei intensității ecografice și a pantei gradientului vertical în funcție de adâncime (ficat)</a:t>
            </a:r>
          </a:p>
        </p:txBody>
      </p:sp>
      <p:pic>
        <p:nvPicPr>
          <p:cNvPr id="3" name="Picture 2" descr="A graph showing the growth of the stock market&#10;&#10;AI-generated content may be incorrect.">
            <a:extLst>
              <a:ext uri="{FF2B5EF4-FFF2-40B4-BE49-F238E27FC236}">
                <a16:creationId xmlns:a16="http://schemas.microsoft.com/office/drawing/2014/main" id="{1884C273-5379-B387-B96B-D7B1D4401D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823" y="1808820"/>
            <a:ext cx="8040353" cy="3714404"/>
          </a:xfrm>
          <a:prstGeom prst="rect">
            <a:avLst/>
          </a:prstGeom>
        </p:spPr>
      </p:pic>
      <p:sp>
        <p:nvSpPr>
          <p:cNvPr id="8" name="Google Shape;1073;p61">
            <a:hlinkClick r:id="" action="ppaction://noaction"/>
            <a:extLst>
              <a:ext uri="{FF2B5EF4-FFF2-40B4-BE49-F238E27FC236}">
                <a16:creationId xmlns:a16="http://schemas.microsoft.com/office/drawing/2014/main" id="{83B4D3F0-EB65-A17D-91D9-DF900CCC2BD4}"/>
              </a:ext>
            </a:extLst>
          </p:cNvPr>
          <p:cNvSpPr txBox="1">
            <a:spLocks/>
          </p:cNvSpPr>
          <p:nvPr/>
        </p:nvSpPr>
        <p:spPr>
          <a:xfrm>
            <a:off x="1943708" y="274831"/>
            <a:ext cx="7365909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  <a:buClr>
                <a:srgbClr val="1DA63F"/>
              </a:buClr>
            </a:pPr>
            <a:r>
              <a:rPr lang="ro-RO" b="1" noProof="1">
                <a:latin typeface="UT Sans" panose="00000500000000000000" pitchFamily="2" charset="0"/>
              </a:rPr>
              <a:t>3. Etapele de dezvoltare ale studiului</a:t>
            </a:r>
          </a:p>
        </p:txBody>
      </p:sp>
    </p:spTree>
    <p:extLst>
      <p:ext uri="{BB962C8B-B14F-4D97-AF65-F5344CB8AC3E}">
        <p14:creationId xmlns:p14="http://schemas.microsoft.com/office/powerpoint/2010/main" val="7730330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E5E5D-E7ED-7668-21ED-FD0E9EED0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AD947DF6-B6F3-5A36-6ACF-D95C85D6247C}"/>
              </a:ext>
            </a:extLst>
          </p:cNvPr>
          <p:cNvGrpSpPr/>
          <p:nvPr/>
        </p:nvGrpSpPr>
        <p:grpSpPr>
          <a:xfrm>
            <a:off x="8460432" y="6237312"/>
            <a:ext cx="216000" cy="216000"/>
            <a:chOff x="2772000" y="1932221"/>
            <a:chExt cx="2340000" cy="2340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356586D-6ABC-BB0E-0B81-23D9721884E1}"/>
                </a:ext>
              </a:extLst>
            </p:cNvPr>
            <p:cNvSpPr/>
            <p:nvPr/>
          </p:nvSpPr>
          <p:spPr>
            <a:xfrm>
              <a:off x="2772000" y="1932221"/>
              <a:ext cx="2340000" cy="23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o-RO" noProof="1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954D030-EEDA-C1E0-0D0F-0F4C8476E55F}"/>
                </a:ext>
              </a:extLst>
            </p:cNvPr>
            <p:cNvSpPr/>
            <p:nvPr/>
          </p:nvSpPr>
          <p:spPr>
            <a:xfrm>
              <a:off x="3546000" y="2706221"/>
              <a:ext cx="792000" cy="79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o-RO" noProof="1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44338C43-F885-6E70-2A6C-27DA30B02F3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332656"/>
            <a:ext cx="1688792" cy="4777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D5A5FBF-859E-1141-0F33-1F6B17283E58}"/>
              </a:ext>
            </a:extLst>
          </p:cNvPr>
          <p:cNvSpPr txBox="1"/>
          <p:nvPr/>
        </p:nvSpPr>
        <p:spPr>
          <a:xfrm>
            <a:off x="2084328" y="248365"/>
            <a:ext cx="50045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3600" b="1" noProof="1">
                <a:latin typeface="UT Sans" panose="00000500000000000000" pitchFamily="2" charset="0"/>
              </a:rPr>
              <a:t>4. Concluzii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DAD322-1D56-7DAC-B337-02141B95DB7B}"/>
              </a:ext>
            </a:extLst>
          </p:cNvPr>
          <p:cNvSpPr txBox="1"/>
          <p:nvPr/>
        </p:nvSpPr>
        <p:spPr>
          <a:xfrm>
            <a:off x="539552" y="1556792"/>
            <a:ext cx="8316924" cy="3924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Clr>
                <a:srgbClr val="1DA63F"/>
              </a:buClr>
              <a:buFont typeface="Wingdings" panose="05000000000000000000" pitchFamily="2" charset="2"/>
              <a:buChar char="q"/>
            </a:pPr>
            <a:r>
              <a:rPr lang="en-US" sz="2400" noProof="1">
                <a:latin typeface="UT Sans" panose="00000500000000000000" pitchFamily="2" charset="0"/>
              </a:rPr>
              <a:t>Prototip metodă computațională.</a:t>
            </a:r>
          </a:p>
          <a:p>
            <a:pPr marL="285750" indent="-285750" algn="just">
              <a:lnSpc>
                <a:spcPct val="150000"/>
              </a:lnSpc>
              <a:buClr>
                <a:srgbClr val="1DA63F"/>
              </a:buClr>
              <a:buFont typeface="Wingdings" panose="05000000000000000000" pitchFamily="2" charset="2"/>
              <a:buChar char="q"/>
            </a:pPr>
            <a:r>
              <a:rPr lang="en-US" sz="2400" noProof="1">
                <a:latin typeface="UT Sans" panose="00000500000000000000" pitchFamily="2" charset="0"/>
              </a:rPr>
              <a:t>Ipoteza de lucru – confirmată: intensitatea semnalului scade în funcție de adâncime.</a:t>
            </a:r>
          </a:p>
          <a:p>
            <a:pPr marL="285750" indent="-285750" algn="just">
              <a:lnSpc>
                <a:spcPct val="150000"/>
              </a:lnSpc>
              <a:buClr>
                <a:srgbClr val="1DA63F"/>
              </a:buClr>
              <a:buFont typeface="Wingdings" panose="05000000000000000000" pitchFamily="2" charset="2"/>
              <a:buChar char="q"/>
            </a:pPr>
            <a:r>
              <a:rPr lang="en-US" sz="2400" noProof="1">
                <a:latin typeface="UT Sans" panose="00000500000000000000" pitchFamily="2" charset="0"/>
              </a:rPr>
              <a:t>Rezultatele obținute sunt cantitative, reproductibile și structurate.</a:t>
            </a:r>
          </a:p>
          <a:p>
            <a:pPr marL="285750" indent="-285750" algn="just">
              <a:lnSpc>
                <a:spcPct val="150000"/>
              </a:lnSpc>
              <a:buClr>
                <a:srgbClr val="1DA63F"/>
              </a:buClr>
              <a:buFont typeface="Wingdings" panose="05000000000000000000" pitchFamily="2" charset="2"/>
              <a:buChar char="q"/>
            </a:pPr>
            <a:r>
              <a:rPr lang="en-US" sz="2400" noProof="1">
                <a:latin typeface="UT Sans" panose="00000500000000000000" pitchFamily="2" charset="0"/>
              </a:rPr>
              <a:t>Metodă cu potențial pentru sisteme automate de evaluare imagistică.</a:t>
            </a:r>
            <a:endParaRPr lang="ro-RO" sz="2400" noProof="1">
              <a:latin typeface="UT Sa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8396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4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99CD7F2-3C53-4739-ACC8-9CFA25D2512F}">
  <we:reference id="135565c1-a7e4-41ef-a151-04725413e45f" version="2.0.0.0" store="EXCatalog" storeType="EXCatalog"/>
  <we:alternateReferences>
    <we:reference id="WA200005669" version="2.0.0.0" store="ro-RO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640</TotalTime>
  <Words>244</Words>
  <Application>Microsoft Office PowerPoint</Application>
  <PresentationFormat>On-screen Show (4:3)</PresentationFormat>
  <Paragraphs>35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Aptos</vt:lpstr>
      <vt:lpstr>Arial</vt:lpstr>
      <vt:lpstr>Calibri</vt:lpstr>
      <vt:lpstr>Calibri Light</vt:lpstr>
      <vt:lpstr>UT Sans</vt:lpstr>
      <vt:lpstr>UT Sans 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Burlacu   Claudiu - Ionuţ</cp:lastModifiedBy>
  <cp:revision>27</cp:revision>
  <dcterms:created xsi:type="dcterms:W3CDTF">2017-10-19T09:49:50Z</dcterms:created>
  <dcterms:modified xsi:type="dcterms:W3CDTF">2025-06-13T11:28:44Z</dcterms:modified>
</cp:coreProperties>
</file>